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3bd40502bb84816" /><Relationship Type="http://schemas.openxmlformats.org/officeDocument/2006/relationships/extended-properties" Target="/docProps/app.xml" Id="R74367abc9aa64fd6" /><Relationship Type="http://schemas.openxmlformats.org/officeDocument/2006/relationships/officeDocument" Target="/ppt/presentation.xml" Id="Ra6e1c6b73fe64a2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4d8a04cc7a34185"/>
  </p:sldMasterIdLst>
  <p:notesMasterIdLst>
    <p:notesMasterId xmlns:r="http://schemas.openxmlformats.org/officeDocument/2006/relationships" r:id="R0d275baf021a404f"/>
  </p:notesMasterIdLst>
  <p:sldIdLst>
    <p:sldId xmlns:r="http://schemas.openxmlformats.org/officeDocument/2006/relationships" id="256" r:id="Re56000f9d23d4350"/>
    <p:sldId xmlns:r="http://schemas.openxmlformats.org/officeDocument/2006/relationships" id="257" r:id="Rb3afbdceff554fd8"/>
    <p:sldId xmlns:r="http://schemas.openxmlformats.org/officeDocument/2006/relationships" id="258" r:id="R38c603ea01d94622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3f0f0b9f5544723" /><Relationship Type="http://schemas.openxmlformats.org/officeDocument/2006/relationships/slideMaster" Target="/ppt/slideMasters/slideMaster1.xml" Id="Rf4d8a04cc7a34185" /><Relationship Type="http://schemas.openxmlformats.org/officeDocument/2006/relationships/notesMaster" Target="/ppt/notesMasters/notesMaster1.xml" Id="R0d275baf021a404f" /><Relationship Type="http://schemas.openxmlformats.org/officeDocument/2006/relationships/presProps" Target="/ppt/presProps.xml" Id="Rad29ac55b16e442d" /><Relationship Type="http://schemas.openxmlformats.org/officeDocument/2006/relationships/tableStyles" Target="/ppt/tableStyles.xml" Id="R38593511bf3345a0" /><Relationship Type="http://schemas.openxmlformats.org/officeDocument/2006/relationships/slide" Target="/ppt/slides/slide1.xml" Id="Re56000f9d23d4350" /><Relationship Type="http://schemas.openxmlformats.org/officeDocument/2006/relationships/slide" Target="/ppt/slides/slide2.xml" Id="Rb3afbdceff554fd8" /><Relationship Type="http://schemas.openxmlformats.org/officeDocument/2006/relationships/slide" Target="/ppt/slides/slide3.xml" Id="R38c603ea01d9462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62d8b20eda14ec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c56588e994e43fb" /><Relationship Type="http://schemas.openxmlformats.org/officeDocument/2006/relationships/notesMaster" Target="/ppt/notesMasters/notesMaster1.xml" Id="Ra3dc0ba9d17d4ed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6dd695d187b43b1" /><Relationship Type="http://schemas.openxmlformats.org/officeDocument/2006/relationships/notesMaster" Target="/ppt/notesMasters/notesMaster1.xml" Id="R475a50fdc09542a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3102dd4b2b34769" /><Relationship Type="http://schemas.openxmlformats.org/officeDocument/2006/relationships/notesMaster" Target="/ppt/notesMasters/notesMaster1.xml" Id="Rb767c5d14a9c4ce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cb60d22b173416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d6494fbb18b4568" /><Relationship Type="http://schemas.openxmlformats.org/officeDocument/2006/relationships/slideLayout" Target="/ppt/slideLayouts/slideLayout1.xml" Id="R111e85c30bf2467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11e85c30bf2467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2d9e05569a746ce" /><Relationship Type="http://schemas.openxmlformats.org/officeDocument/2006/relationships/image" Target="/ppt/media/image.png" Id="R486686c69f8d460a" /><Relationship Type="http://schemas.openxmlformats.org/officeDocument/2006/relationships/image" Target="/ppt/media/image2.png" Id="Reae8ba9fe6e74704" /><Relationship Type="http://schemas.openxmlformats.org/officeDocument/2006/relationships/notesSlide" Target="/ppt/notesSlides/notesSlide1.xml" Id="Rb5c41ea03f4b49f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0abb2c66aa64bf0" /><Relationship Type="http://schemas.openxmlformats.org/officeDocument/2006/relationships/image" Target="/ppt/media/image3.png" Id="Rd49b391eabaf427d" /><Relationship Type="http://schemas.openxmlformats.org/officeDocument/2006/relationships/image" Target="/ppt/media/image4.png" Id="Rb11fdc27dc9745ec" /><Relationship Type="http://schemas.openxmlformats.org/officeDocument/2006/relationships/notesSlide" Target="/ppt/notesSlides/notesSlide2.xml" Id="R13a215757e694e5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3e97390480c46a8" /><Relationship Type="http://schemas.openxmlformats.org/officeDocument/2006/relationships/image" Target="/ppt/media/image5.png" Id="R402f36c51e5a49a2" /><Relationship Type="http://schemas.openxmlformats.org/officeDocument/2006/relationships/notesSlide" Target="/ppt/notesSlides/notesSlide3.xml" Id="R1b7b220d75144279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4113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86686c69f8d460a"/>
          <a:srcRect xmlns:a="http://schemas.openxmlformats.org/drawingml/2006/main" l="0" t="21875" r="0" b="2187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A14D0AF-3C9B-46C2-A568-7C6552764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113D">
              <a:alpha val="80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29D3848-C610-4903-96F3-960BDA360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0"/>
            <a:ext cx="40005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35BFF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ae8ba9fe6e74704"/>
          <a:stretch xmlns:a="http://schemas.openxmlformats.org/drawingml/2006/main"/>
        </p:blipFill>
        <p:spPr>
          <a:xfrm xmlns:a="http://schemas.openxmlformats.org/drawingml/2006/main">
            <a:off x="723900" y="744487"/>
            <a:ext cx="323850" cy="320777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3C4E481-8B94-4920-977F-15A8D5EE3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781050"/>
            <a:ext cx="895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Qwen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D36BE4E-EC7E-4771-B227-C8B409A16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95500"/>
            <a:ext cx="1524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4350" b="1">
                <a:solidFill>
                  <a:srgbClr val="D9D7FF"/>
                </a:solidFill>
                <a:latin typeface="PingFang SC"/>
                <a:ea typeface="PingFang SC"/>
                <a:cs typeface="PingFang SC"/>
              </a:defRPr>
            </a:pPr>
            <a:r>
              <a:rPr sz="4350" b="1">
                <a:solidFill>
                  <a:srgbClr val="D9D7FF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F1B5BB3-50B6-43A4-B7A1-70E5409AE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05150"/>
            <a:ext cx="6191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7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工作概况：教育 OneRec 探索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9E6282F-2B25-4711-B24B-7AE663FA9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886200"/>
            <a:ext cx="590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DDE3F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DDE3FF"/>
                </a:solidFill>
                <a:latin typeface="PingFang SC"/>
                <a:ea typeface="PingFang SC"/>
                <a:cs typeface="PingFang SC"/>
              </a:rPr>
              <a:t>优化背景 | 问题与挑战 | 优化方案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DC121F4-C5DC-465B-86C7-E204E82ED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495800"/>
            <a:ext cx="8763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8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00D2226-2F5E-485C-95AE-94F91A9F8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6191250"/>
            <a:ext cx="2476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F2F4FF"/>
                </a:solidFill>
                <a:latin typeface="PingFang SC"/>
                <a:ea typeface="PingFang SC"/>
                <a:cs typeface="PingFang SC"/>
              </a:defRPr>
            </a:pPr>
            <a:r>
              <a:rPr sz="975" b="1">
                <a:solidFill>
                  <a:srgbClr val="F2F4FF"/>
                </a:solidFill>
                <a:latin typeface="PingFang SC"/>
                <a:ea typeface="PingFang SC"/>
                <a:cs typeface="PingFang SC"/>
              </a:rPr>
              <a:t>转正答辩 · 千问学习创新</a:t>
            </a:r>
          </a:p>
        </p:txBody>
      </p:sp>
    </p:spTree>
    <p:extLst>
      <p:ext uri="{BB962C8B-B14F-4D97-AF65-F5344CB8AC3E}">
        <p14:creationId xmlns:p14="http://schemas.microsoft.com/office/powerpoint/2010/main" val="155789601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49b391eabaf427d"/>
          <a:stretch xmlns:a="http://schemas.openxmlformats.org/drawingml/2006/main"/>
        </p:blipFill>
        <p:spPr>
          <a:xfrm xmlns:a="http://schemas.openxmlformats.org/drawingml/2006/main">
            <a:off x="9925050" y="306337"/>
            <a:ext cx="323850" cy="320777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193AFC1-93F2-4CB0-9C2F-D736487AD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333375"/>
            <a:ext cx="685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14113D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>
                <a:solidFill>
                  <a:srgbClr val="14113D"/>
                </a:solidFill>
                <a:latin typeface="PingFang SC"/>
                <a:ea typeface="PingFang SC"/>
                <a:cs typeface="PingFang SC"/>
              </a:rPr>
              <a:t>Qwen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B0372FB-EED0-492E-9B19-BF0C58CCD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533400"/>
            <a:ext cx="6858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825" b="0">
                <a:solidFill>
                  <a:srgbClr val="667085"/>
                </a:solidFill>
                <a:latin typeface="PingFang SC"/>
                <a:ea typeface="PingFang SC"/>
                <a:cs typeface="PingFang SC"/>
              </a:defRPr>
            </a:pPr>
            <a:r>
              <a:rPr sz="825" b="0">
                <a:solidFill>
                  <a:srgbClr val="667085"/>
                </a:solidFill>
                <a:latin typeface="PingFang SC"/>
                <a:ea typeface="PingFang SC"/>
                <a:cs typeface="PingFang SC"/>
              </a:rPr>
              <a:t>千问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FD0AA59-0FCE-4475-B99E-9F656CC0B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0480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635B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66B84BD-A340-4608-A385-D66822064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409575"/>
            <a:ext cx="609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 algn="ctr">
              <a:buNone/>
              <a:defRPr sz="2400" b="1">
                <a:solidFill>
                  <a:srgbClr val="635BFF"/>
                </a:solidFill>
                <a:latin typeface="PingFang SC"/>
                <a:ea typeface="PingFang SC"/>
                <a:cs typeface="PingFang SC"/>
              </a:defRPr>
            </a:pPr>
            <a:r>
              <a:rPr sz="2400" b="1">
                <a:solidFill>
                  <a:srgbClr val="635BFF"/>
                </a:solidFill>
                <a:latin typeface="PingFang SC"/>
                <a:ea typeface="PingFang SC"/>
                <a:cs typeface="PingFang SC"/>
              </a:rPr>
              <a:t>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33D8B6D-F3F5-43D0-B0F3-28639E405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00050"/>
            <a:ext cx="6572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35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29ECC9C-7959-431F-A63E-33160D618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66725"/>
            <a:ext cx="6038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背景与目标 | 为什么需要第三条路线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D6DC13F-AC36-4562-8142-0899A2BA4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066800"/>
            <a:ext cx="11049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35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286E9E8-078D-48DB-A417-488FDCB7C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15100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98A2B3"/>
                </a:solidFill>
                <a:latin typeface="PingFang SC"/>
                <a:ea typeface="PingFang SC"/>
                <a:cs typeface="PingFang SC"/>
              </a:defRPr>
            </a:pPr>
            <a:r>
              <a:rPr sz="825" b="0">
                <a:solidFill>
                  <a:srgbClr val="98A2B3"/>
                </a:solidFill>
                <a:latin typeface="PingFang SC"/>
                <a:ea typeface="PingFang SC"/>
                <a:cs typeface="PingFang SC"/>
              </a:rPr>
              <a:t>04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79470E1-526D-4464-913C-59F6DC3C8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428750"/>
            <a:ext cx="4762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35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23B68F2-2187-4AFA-A0DC-6FBBB5596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381125"/>
            <a:ext cx="2286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优化背景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F54E131-05F0-408E-A547-DC9D7A96F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1790700"/>
            <a:ext cx="409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667085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667085"/>
                </a:solidFill>
                <a:latin typeface="PingFang SC"/>
                <a:ea typeface="PingFang SC"/>
                <a:cs typeface="PingFang SC"/>
              </a:rPr>
              <a:t>业务需要探索第三条技术路线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E489D9D-C660-4FBA-BFE5-B91138CC5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669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344054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344054"/>
                </a:solidFill>
                <a:latin typeface="PingFang SC"/>
                <a:ea typeface="PingFang SC"/>
                <a:cs typeface="PingFang SC"/>
              </a:rPr>
              <a:t>现有两条技术路线的结构性短板：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3ACA8F7-AE37-4382-A609-261A5F236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86050"/>
            <a:ext cx="3048000" cy="12192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4F1FF"/>
          </a:solidFill>
          <a:ln xmlns:a="http://schemas.openxmlformats.org/drawingml/2006/main" w="11430">
            <a:solidFill>
              <a:srgbClr val="C8C2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C96978E-7767-423A-B217-A580CA8BA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93370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635BFF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>
                <a:solidFill>
                  <a:srgbClr val="635BFF"/>
                </a:solidFill>
                <a:latin typeface="PingFang SC"/>
                <a:ea typeface="PingFang SC"/>
                <a:cs typeface="PingFang SC"/>
              </a:rPr>
              <a:t>路线一：Agent 编排检索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F73CCFB-CB87-4CF7-8E67-544C93BD9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314700"/>
            <a:ext cx="247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344054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344054"/>
                </a:solidFill>
                <a:latin typeface="PingFang SC"/>
                <a:ea typeface="PingFang SC"/>
                <a:cs typeface="PingFang SC"/>
              </a:rPr>
              <a:t>• 解释强、检索精度高</a:t>
            </a:r>
          </a:p>
          <a:p xmlns:a="http://schemas.openxmlformats.org/drawingml/2006/main">
            <a:pPr>
              <a:buNone/>
              <a:defRPr sz="1050" b="0">
                <a:solidFill>
                  <a:srgbClr val="344054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344054"/>
                </a:solidFill>
                <a:latin typeface="PingFang SC"/>
                <a:ea typeface="PingFang SC"/>
                <a:cs typeface="PingFang SC"/>
              </a:rPr>
              <a:t>• 多轮模型调用，端到端时延秒级/十秒级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8F6AD19-9C34-453C-A099-CE3C45723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686050"/>
            <a:ext cx="3048000" cy="12192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4F1FF"/>
          </a:solidFill>
          <a:ln xmlns:a="http://schemas.openxmlformats.org/drawingml/2006/main" w="11430">
            <a:solidFill>
              <a:srgbClr val="C8C2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CF381DB-1673-4E37-A2B7-6B8EF053C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93370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635BFF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>
                <a:solidFill>
                  <a:srgbClr val="635BFF"/>
                </a:solidFill>
                <a:latin typeface="PingFang SC"/>
                <a:ea typeface="PingFang SC"/>
                <a:cs typeface="PingFang SC"/>
              </a:rPr>
              <a:t>路线二：传统判别推荐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972305E-4427-463B-AF73-8EA38A290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3314700"/>
            <a:ext cx="247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344054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344054"/>
                </a:solidFill>
                <a:latin typeface="PingFang SC"/>
                <a:ea typeface="PingFang SC"/>
                <a:cs typeface="PingFang SC"/>
              </a:rPr>
              <a:t>• 数十毫秒响应，时效性优秀</a:t>
            </a:r>
          </a:p>
          <a:p xmlns:a="http://schemas.openxmlformats.org/drawingml/2006/main">
            <a:pPr>
              <a:buNone/>
              <a:defRPr sz="1050" b="0">
                <a:solidFill>
                  <a:srgbClr val="344054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344054"/>
                </a:solidFill>
                <a:latin typeface="PingFang SC"/>
                <a:ea typeface="PingFang SC"/>
                <a:cs typeface="PingFang SC"/>
              </a:rPr>
              <a:t>• 黑盒系统，缺乏推荐解释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1D31FD9-A2DA-4436-8526-F7A3B937D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3943350"/>
            <a:ext cx="7048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 algn="ctr">
              <a:buNone/>
              <a:defRPr sz="3300" b="1">
                <a:solidFill>
                  <a:srgbClr val="635BFF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635BFF"/>
                </a:solidFill>
                <a:latin typeface="PingFang SC"/>
                <a:ea typeface="PingFang SC"/>
                <a:cs typeface="PingFang SC"/>
              </a:rPr>
              <a:t>↓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03B08E5-93DD-4009-9039-A03DAEE18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762500"/>
            <a:ext cx="5753100" cy="110490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635BFF"/>
          </a:solidFill>
          <a:ln xmlns:a="http://schemas.openxmlformats.org/drawingml/2006/main" w="0">
            <a:solidFill>
              <a:srgbClr val="635B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071D9F1-E7FF-416E-85FF-799D13DFE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50101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第三条路线：OneRec 生成式推荐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2ECFFFF-E66C-4663-A140-378610EE0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5353050"/>
            <a:ext cx="4953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EEF2FF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EEF2FF"/>
                </a:solidFill>
                <a:latin typeface="PingFang SC"/>
                <a:ea typeface="PingFang SC"/>
                <a:cs typeface="PingFang SC"/>
              </a:rPr>
              <a:t>在满足在线时延约束的前提下，提供具备一定忠实性的推荐解释</a:t>
            </a:r>
          </a:p>
          <a:p xmlns:a="http://schemas.openxmlformats.org/drawingml/2006/main">
            <a:pPr>
              <a:buNone/>
              <a:defRPr sz="1050" b="0">
                <a:solidFill>
                  <a:srgbClr val="EEF2FF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EEF2FF"/>
                </a:solidFill>
                <a:latin typeface="PingFang SC"/>
                <a:ea typeface="PingFang SC"/>
                <a:cs typeface="PingFang SC"/>
              </a:rPr>
              <a:t>将对话、推理与生成式推荐统一于单一模型，同时提升推荐精度与可解释性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1B62741-F682-41FC-A5FA-D19E99FD4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1866900"/>
            <a:ext cx="3371850" cy="3657600"/>
          </a:xfrm>
          <a:prstGeom xmlns:a="http://schemas.openxmlformats.org/drawingml/2006/main" prst="roundRect">
            <a:avLst>
              <a:gd name="adj" fmla="val 226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478">
            <a:solidFill>
              <a:srgbClr val="C7E7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pic>
        <p:nvPicPr>
          <p:cNvPr id="5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11fdc27dc9745ec"/>
          <a:stretch xmlns:a="http://schemas.openxmlformats.org/drawingml/2006/main"/>
        </p:blipFill>
        <p:spPr>
          <a:xfrm xmlns:a="http://schemas.openxmlformats.org/drawingml/2006/main">
            <a:off x="8020050" y="2511010"/>
            <a:ext cx="2914650" cy="2026479"/>
          </a:xfrm>
          <a:prstGeom xmlns:a="http://schemas.openxmlformats.org/drawingml/2006/main" prst="rect">
            <a:avLst/>
          </a:prstGeom>
        </p:spPr>
      </p:pic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F5A76D7-D52D-41EA-B62D-46FD380C0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5010150"/>
            <a:ext cx="2724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14113D"/>
                </a:solidFill>
                <a:latin typeface="PingFang SC"/>
                <a:ea typeface="PingFang SC"/>
                <a:cs typeface="PingFang SC"/>
              </a:defRPr>
            </a:pPr>
            <a:r>
              <a:rPr sz="1125" b="1">
                <a:solidFill>
                  <a:srgbClr val="14113D"/>
                </a:solidFill>
                <a:latin typeface="PingFang SC"/>
                <a:ea typeface="PingFang SC"/>
                <a:cs typeface="PingFang SC"/>
              </a:rPr>
              <a:t>OneRec 研究路线：预训练、后训练、评估闭环</a:t>
            </a:r>
          </a:p>
        </p:txBody>
      </p:sp>
    </p:spTree>
    <p:extLst>
      <p:ext uri="{BB962C8B-B14F-4D97-AF65-F5344CB8AC3E}">
        <p14:creationId xmlns:p14="http://schemas.microsoft.com/office/powerpoint/2010/main" val="145441501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02f36c51e5a49a2"/>
          <a:stretch xmlns:a="http://schemas.openxmlformats.org/drawingml/2006/main"/>
        </p:blipFill>
        <p:spPr>
          <a:xfrm xmlns:a="http://schemas.openxmlformats.org/drawingml/2006/main">
            <a:off x="9925050" y="306337"/>
            <a:ext cx="323850" cy="320777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2EF28AF-E21B-495C-8991-4D58222E7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333375"/>
            <a:ext cx="685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14113D"/>
                </a:solidFill>
                <a:latin typeface="PingFang SC"/>
                <a:ea typeface="PingFang SC"/>
                <a:cs typeface="PingFang SC"/>
              </a:defRPr>
            </a:pPr>
            <a:r>
              <a:rPr sz="1200" b="1">
                <a:solidFill>
                  <a:srgbClr val="14113D"/>
                </a:solidFill>
                <a:latin typeface="PingFang SC"/>
                <a:ea typeface="PingFang SC"/>
                <a:cs typeface="PingFang SC"/>
              </a:rPr>
              <a:t>Qwen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9D28533-77AD-4173-BFC6-C45B95E24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533400"/>
            <a:ext cx="6858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825" b="0">
                <a:solidFill>
                  <a:srgbClr val="667085"/>
                </a:solidFill>
                <a:latin typeface="PingFang SC"/>
                <a:ea typeface="PingFang SC"/>
                <a:cs typeface="PingFang SC"/>
              </a:defRPr>
            </a:pPr>
            <a:r>
              <a:rPr sz="825" b="0">
                <a:solidFill>
                  <a:srgbClr val="667085"/>
                </a:solidFill>
                <a:latin typeface="PingFang SC"/>
                <a:ea typeface="PingFang SC"/>
                <a:cs typeface="PingFang SC"/>
              </a:rPr>
              <a:t>千问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5452BA0-F6E3-4598-8FA5-2BE1D35C1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0480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635B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46E5993-4C0C-4455-BC66-A67739D4A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409575"/>
            <a:ext cx="609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 algn="ctr">
              <a:buNone/>
              <a:defRPr sz="2400" b="1">
                <a:solidFill>
                  <a:srgbClr val="635BFF"/>
                </a:solidFill>
                <a:latin typeface="PingFang SC"/>
                <a:ea typeface="PingFang SC"/>
                <a:cs typeface="PingFang SC"/>
              </a:defRPr>
            </a:pPr>
            <a:r>
              <a:rPr sz="2400" b="1">
                <a:solidFill>
                  <a:srgbClr val="635BFF"/>
                </a:solidFill>
                <a:latin typeface="PingFang SC"/>
                <a:ea typeface="PingFang SC"/>
                <a:cs typeface="PingFang SC"/>
              </a:rPr>
              <a:t>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3BD86EE-C7DE-4543-A6F8-DB203A9D6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00050"/>
            <a:ext cx="6572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35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B3D07C3-CF29-4CD2-BA31-067B3680B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66725"/>
            <a:ext cx="6038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背景与目标 | 一个模型，多种教育场景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E1D6547-3070-490C-A7CC-26B930EDC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066800"/>
            <a:ext cx="11049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35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369E413-7317-454D-83F7-B54A266D1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15100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98A2B3"/>
                </a:solidFill>
                <a:latin typeface="PingFang SC"/>
                <a:ea typeface="PingFang SC"/>
                <a:cs typeface="PingFang SC"/>
              </a:defRPr>
            </a:pPr>
            <a:r>
              <a:rPr sz="825" b="0">
                <a:solidFill>
                  <a:srgbClr val="98A2B3"/>
                </a:solidFill>
                <a:latin typeface="PingFang SC"/>
                <a:ea typeface="PingFang SC"/>
                <a:cs typeface="PingFang SC"/>
              </a:rPr>
              <a:t>05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9499F78-F524-4489-A206-9E6E503A5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428750"/>
            <a:ext cx="781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目标：产出教育领域的基座推荐模型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D6C32CD-A2FF-455F-8CC6-41D947185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47850"/>
            <a:ext cx="933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344054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344054"/>
                </a:solidFill>
                <a:latin typeface="PingFang SC"/>
                <a:ea typeface="PingFang SC"/>
                <a:cs typeface="PingFang SC"/>
              </a:rPr>
              <a:t>以通用 LLM 为底座，注入 Item 语义理解与生成式推荐能力，通过指令适配推荐、搜索和题目理解。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4CD75F6-A36B-44BB-A34E-2F66A61DD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552700"/>
            <a:ext cx="4762500" cy="933450"/>
          </a:xfrm>
          <a:prstGeom xmlns:a="http://schemas.openxmlformats.org/drawingml/2006/main" prst="roundRect">
            <a:avLst>
              <a:gd name="adj" fmla="val 8163"/>
            </a:avLst>
          </a:prstGeom>
          <a:solidFill xmlns:a="http://schemas.openxmlformats.org/drawingml/2006/main">
            <a:srgbClr val="F8FBFF"/>
          </a:solidFill>
          <a:ln xmlns:a="http://schemas.openxmlformats.org/drawingml/2006/main" w="10478">
            <a:solidFill>
              <a:srgbClr val="C7E7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3CEFDCB-EAAE-494F-8900-D889796C0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" y="2562225"/>
            <a:ext cx="47434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8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41460A9-130B-4322-9F01-F44CC3668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76225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35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E58B5A9-0E6F-4529-AA6D-107034922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857500"/>
            <a:ext cx="419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1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65C1951-CA12-473C-9DA8-8921BF885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7432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灾难性遗忘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120886F-EB54-4B44-A807-ED29D9541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067050"/>
            <a:ext cx="3524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344054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344054"/>
                </a:solidFill>
                <a:latin typeface="PingFang SC"/>
                <a:ea typeface="PingFang SC"/>
                <a:cs typeface="PingFang SC"/>
              </a:rPr>
              <a:t>学会推荐的同时，不丢通用能力和 SID 对齐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C4D7A20-F50C-4701-AECB-2741F440C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552700"/>
            <a:ext cx="4762500" cy="933450"/>
          </a:xfrm>
          <a:prstGeom xmlns:a="http://schemas.openxmlformats.org/drawingml/2006/main" prst="roundRect">
            <a:avLst>
              <a:gd name="adj" fmla="val 8163"/>
            </a:avLst>
          </a:prstGeom>
          <a:solidFill xmlns:a="http://schemas.openxmlformats.org/drawingml/2006/main">
            <a:srgbClr val="F4F1FF"/>
          </a:solidFill>
          <a:ln xmlns:a="http://schemas.openxmlformats.org/drawingml/2006/main" w="10478">
            <a:solidFill>
              <a:srgbClr val="C7E7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9850BBA-6A50-4FC7-9A52-1816C0053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2562225"/>
            <a:ext cx="47434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35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BDBCCEC-732E-4F1B-A31D-154B071C4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76225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35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0F0F454-E329-43C3-A074-314411E94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857500"/>
            <a:ext cx="419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2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18CD64D-74A3-49A8-A085-B62BE24D6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7432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任务互扰与隔离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16C9F1A-A1F2-4993-9863-31D986081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3067050"/>
            <a:ext cx="3524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344054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344054"/>
                </a:solidFill>
                <a:latin typeface="PingFang SC"/>
                <a:ea typeface="PingFang SC"/>
                <a:cs typeface="PingFang SC"/>
              </a:rPr>
              <a:t>一个模型干多种活，训练和上线都要互不牵连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09D2BFB-8CFF-497F-A056-CA8BBCAC1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867150"/>
            <a:ext cx="4762500" cy="933450"/>
          </a:xfrm>
          <a:prstGeom xmlns:a="http://schemas.openxmlformats.org/drawingml/2006/main" prst="roundRect">
            <a:avLst>
              <a:gd name="adj" fmla="val 8163"/>
            </a:avLst>
          </a:prstGeom>
          <a:solidFill xmlns:a="http://schemas.openxmlformats.org/drawingml/2006/main">
            <a:srgbClr val="F8FBFF"/>
          </a:solidFill>
          <a:ln xmlns:a="http://schemas.openxmlformats.org/drawingml/2006/main" w="10478">
            <a:solidFill>
              <a:srgbClr val="C7E7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6186217-B6EB-4D4A-856E-BA4060974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" y="3876675"/>
            <a:ext cx="47434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8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7143A6C-1FA4-43A3-957E-7D7815DFC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07670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35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847F959-94F4-4F6B-B2BE-3DA0C8049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171950"/>
            <a:ext cx="419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3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E14F0E5-E2F1-46C7-A55D-90807708F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0576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推荐质量度量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2CBDAF7-8AE8-4E2A-89D8-5C4FCD6B5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381500"/>
            <a:ext cx="3524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344054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344054"/>
                </a:solidFill>
                <a:latin typeface="PingFang SC"/>
                <a:ea typeface="PingFang SC"/>
                <a:cs typeface="PingFang SC"/>
              </a:rPr>
              <a:t>冷启动缺少真实反馈，必须构造可靠监督与评估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60E0EC5-C037-4FD3-BE4D-AC3F4F01E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867150"/>
            <a:ext cx="4762500" cy="933450"/>
          </a:xfrm>
          <a:prstGeom xmlns:a="http://schemas.openxmlformats.org/drawingml/2006/main" prst="roundRect">
            <a:avLst>
              <a:gd name="adj" fmla="val 8163"/>
            </a:avLst>
          </a:prstGeom>
          <a:solidFill xmlns:a="http://schemas.openxmlformats.org/drawingml/2006/main">
            <a:srgbClr val="F4F1FF"/>
          </a:solidFill>
          <a:ln xmlns:a="http://schemas.openxmlformats.org/drawingml/2006/main" w="10478">
            <a:solidFill>
              <a:srgbClr val="C7E7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C2D8892-A95A-4189-86A3-93BA7833C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3876675"/>
            <a:ext cx="47434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35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E70E2E8-B7BB-4AA3-9D49-F6BE2B185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407670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35B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9127546-35A6-42A3-AF50-03B39D6E9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4171950"/>
            <a:ext cx="419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4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9E2777A-5E3B-42AE-BD34-2F74AC7AA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40576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工程落地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5306E7B-9755-47BA-AF44-A30BF2EA2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4381500"/>
            <a:ext cx="3524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344054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344054"/>
                </a:solidFill>
                <a:latin typeface="PingFang SC"/>
                <a:ea typeface="PingFang SC"/>
                <a:cs typeface="PingFang SC"/>
              </a:rPr>
              <a:t>显式 CoT 慢且贵，新内容还要持续入库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3DF72C2-2F36-4F7F-848B-CCB1B5AA0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5638800"/>
            <a:ext cx="933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14113D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14113D"/>
                </a:solidFill>
                <a:latin typeface="PingFang SC"/>
                <a:ea typeface="PingFang SC"/>
                <a:cs typeface="PingFang SC"/>
              </a:rPr>
              <a:t>核心判断：不是先做一个推荐模型，而是先搭出可训练、可约束、可评估的生产链路。</a:t>
            </a:r>
          </a:p>
        </p:txBody>
      </p:sp>
    </p:spTree>
    <p:extLst>
      <p:ext uri="{BB962C8B-B14F-4D97-AF65-F5344CB8AC3E}">
        <p14:creationId xmlns:p14="http://schemas.microsoft.com/office/powerpoint/2010/main" val="139898806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2026-07-07T06:51:06.2030000Z</dcterms:created>
  <dcterms:modified xsi:type="dcterms:W3CDTF">2026-07-07T06:51:06.2030000Z</dcterms:modified>
</coreProperties>
</file>