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a551a1a0884736" /><Relationship Type="http://schemas.openxmlformats.org/officeDocument/2006/relationships/extended-properties" Target="/docProps/app.xml" Id="Rb5a3814f820548d8" /><Relationship Type="http://schemas.openxmlformats.org/officeDocument/2006/relationships/officeDocument" Target="/ppt/presentation.xml" Id="Ra09e6be9161547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a88c16df96400c"/>
  </p:sldMasterIdLst>
  <p:notesMasterIdLst>
    <p:notesMasterId xmlns:r="http://schemas.openxmlformats.org/officeDocument/2006/relationships" r:id="Rb69a79ffcfa442a7"/>
  </p:notesMasterIdLst>
  <p:sldIdLst>
    <p:sldId xmlns:r="http://schemas.openxmlformats.org/officeDocument/2006/relationships" id="256" r:id="R7b0ddc42e2d7486b"/>
    <p:sldId xmlns:r="http://schemas.openxmlformats.org/officeDocument/2006/relationships" id="257" r:id="Rb742b2857b394cb7"/>
    <p:sldId xmlns:r="http://schemas.openxmlformats.org/officeDocument/2006/relationships" id="258" r:id="Rf536e0d672d14cc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970a65137e4dd4" /><Relationship Type="http://schemas.openxmlformats.org/officeDocument/2006/relationships/slideMaster" Target="/ppt/slideMasters/slideMaster1.xml" Id="Rf0a88c16df96400c" /><Relationship Type="http://schemas.openxmlformats.org/officeDocument/2006/relationships/notesMaster" Target="/ppt/notesMasters/notesMaster1.xml" Id="Rb69a79ffcfa442a7" /><Relationship Type="http://schemas.openxmlformats.org/officeDocument/2006/relationships/presProps" Target="/ppt/presProps.xml" Id="Rcccc2af951804a8a" /><Relationship Type="http://schemas.openxmlformats.org/officeDocument/2006/relationships/tableStyles" Target="/ppt/tableStyles.xml" Id="R8efe9b2528b544e1" /><Relationship Type="http://schemas.openxmlformats.org/officeDocument/2006/relationships/slide" Target="/ppt/slides/slide1.xml" Id="R7b0ddc42e2d7486b" /><Relationship Type="http://schemas.openxmlformats.org/officeDocument/2006/relationships/slide" Target="/ppt/slides/slide2.xml" Id="Rb742b2857b394cb7" /><Relationship Type="http://schemas.openxmlformats.org/officeDocument/2006/relationships/slide" Target="/ppt/slides/slide3.xml" Id="Rf536e0d672d14c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2566b2d4d24a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98ebff5a04401a" /><Relationship Type="http://schemas.openxmlformats.org/officeDocument/2006/relationships/notesMaster" Target="/ppt/notesMasters/notesMaster1.xml" Id="R77c881488eef442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58a67820c74b1b" /><Relationship Type="http://schemas.openxmlformats.org/officeDocument/2006/relationships/notesMaster" Target="/ppt/notesMasters/notesMaster1.xml" Id="Rdf3755b96b8b4e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3b5ec2ba3e40e3" /><Relationship Type="http://schemas.openxmlformats.org/officeDocument/2006/relationships/notesMaster" Target="/ppt/notesMasters/notesMaster1.xml" Id="R79dab95f1dd141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ec3db66b754a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574112b3734211" /><Relationship Type="http://schemas.openxmlformats.org/officeDocument/2006/relationships/slideLayout" Target="/ppt/slideLayouts/slideLayout1.xml" Id="R8258849d95d54a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58849d95d54a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af60b462a4951" /><Relationship Type="http://schemas.openxmlformats.org/officeDocument/2006/relationships/image" Target="/ppt/media/image.png" Id="R2b8aa8d7f64647d7" /><Relationship Type="http://schemas.openxmlformats.org/officeDocument/2006/relationships/image" Target="/ppt/media/image2.png" Id="Rff88ba3fcf584dbf" /><Relationship Type="http://schemas.openxmlformats.org/officeDocument/2006/relationships/notesSlide" Target="/ppt/notesSlides/notesSlide1.xml" Id="Rb9d58c2daab74f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744b1c2af4488" /><Relationship Type="http://schemas.openxmlformats.org/officeDocument/2006/relationships/image" Target="/ppt/media/image3.png" Id="R2d6cd9afe2b745c6" /><Relationship Type="http://schemas.openxmlformats.org/officeDocument/2006/relationships/image" Target="/ppt/media/image4.png" Id="Rda7df439bf50445c" /><Relationship Type="http://schemas.openxmlformats.org/officeDocument/2006/relationships/notesSlide" Target="/ppt/notesSlides/notesSlide2.xml" Id="R8206e47e522147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e282ae3554d45" /><Relationship Type="http://schemas.openxmlformats.org/officeDocument/2006/relationships/image" Target="/ppt/media/image5.png" Id="R86377f10b5094c84" /><Relationship Type="http://schemas.openxmlformats.org/officeDocument/2006/relationships/notesSlide" Target="/ppt/notesSlides/notesSlide3.xml" Id="Rece6ca8eaec04f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aa8d7f64647d7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30D38-FF04-423C-90B0-4B5EBA04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13D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05CDB4-025F-46C6-81B1-1A6FED35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0"/>
            <a:ext cx="400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8ba3fcf584dbf"/>
          <a:stretch xmlns:a="http://schemas.openxmlformats.org/drawingml/2006/main"/>
        </p:blipFill>
        <p:spPr>
          <a:xfrm xmlns:a="http://schemas.openxmlformats.org/drawingml/2006/main">
            <a:off x="723900" y="74448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CA13DC-5CE9-4DD7-BED1-23DC2BA7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810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882425-7EFB-4D5B-B5F2-2B7F3DED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152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0FB66-95D0-4D18-8964-CA841F644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工作概况：教育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485DA1-7CA7-4812-B74E-6F23DADD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rPr>
              <a:t>优化背景 | 总体目标 | 问题与挑战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9C6C4B-A8B1-403A-9A0A-925076DC6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9578A6-2313-4EBC-BE8A-1975C02F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rPr>
              <a:t>转正答辩 · 千问学习创新</a:t>
            </a:r>
          </a:p>
        </p:txBody>
      </p:sp>
    </p:spTree>
    <p:extLst>
      <p:ext uri="{BB962C8B-B14F-4D97-AF65-F5344CB8AC3E}">
        <p14:creationId xmlns:p14="http://schemas.microsoft.com/office/powerpoint/2010/main" val="15744384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6cd9afe2b745c6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3AFC1-93F2-4CB0-9C2F-D736487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372FB-EED0-492E-9B19-BF0C58CC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0AA59-0FCE-4475-B99E-9F656CC0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B84BD-A340-4608-A385-D6682206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D8B6D-F3F5-43D0-B0F3-28639E40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ECC9C-7959-431F-A63E-33160D61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为什么需要 OneRec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DC13F-AC36-4562-8142-0899A2BA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6E9E8-078D-48DB-A417-488FDCB7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470E1-526D-4464-913C-59F6DC3C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B68F2-2187-4AFA-A0DC-6FBBB55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811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优化背景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4E131-05F0-408E-A547-DC9D7A96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教育推荐/搜索需求占比持续上升，现有路线难以兼顾时效性与可解释性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89D9D-C660-4FBA-BFE5-B91138C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核心矛盾：Agent 解释强但慢，判别式推荐快但黑盒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CA8F7-AE37-4382-A609-261A5F2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3105150" cy="13525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5FF"/>
          </a:solidFill>
          <a:ln xmlns:a="http://schemas.openxmlformats.org/drawingml/2006/main" w="12383">
            <a:solidFill>
              <a:srgbClr val="C8C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6978E-7767-423A-B217-A580CA8B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路线一：Agent 编排检索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73CCFB-CB87-4CF7-8E67-544C93B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中间决策显式，可解释性强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多轮模型调用与串行工具链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秒级/十秒级时延，成本随复杂度增长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F6AD19-9C34-453C-A099-CE3C4572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00350"/>
            <a:ext cx="3105150" cy="13525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7F5FF"/>
          </a:solidFill>
          <a:ln xmlns:a="http://schemas.openxmlformats.org/drawingml/2006/main" w="12383">
            <a:solidFill>
              <a:srgbClr val="C8C1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381DB-1673-4E37-A2B7-6B8EF053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289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路线二：判别式推荐系统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2305E-4427-463B-AF73-8EA38A29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5280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毫秒级响应，适合高频交互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偏好隐含在参数与 embedding 中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难输出可审查的推荐依据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31FD9-A2DA-4436-8526-F7A3B937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33850"/>
            <a:ext cx="704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3B08E5-93DD-4009-9039-A03DAEE1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6343650" cy="12001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0EDFF"/>
          </a:solidFill>
          <a:ln xmlns:a="http://schemas.openxmlformats.org/drawingml/2006/main" w="14288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1D9F1-E7FF-416E-85FF-799D13DF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14900"/>
            <a:ext cx="561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332A86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332A86"/>
                </a:solidFill>
                <a:latin typeface="PingFang SC"/>
                <a:ea typeface="PingFang SC"/>
                <a:cs typeface="PingFang SC"/>
              </a:rPr>
              <a:t>第三条路线：OneRec 生成式推荐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ECFFFF-E66C-4663-A140-378610EE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57800"/>
            <a:ext cx="5562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rPr>
              <a:t>在在线时延约束下保留推荐解释：借鉴 OneRec-Think / OneReason 的显式推理与快慢思考架构，</a:t>
            </a:r>
          </a:p>
          <a:p xmlns:a="http://schemas.openxmlformats.org/drawingml/2006/main">
            <a:pPr>
              <a:buNone/>
              <a:def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2F3556"/>
                </a:solidFill>
                <a:latin typeface="PingFang SC"/>
                <a:ea typeface="PingFang SC"/>
                <a:cs typeface="PingFang SC"/>
              </a:rPr>
              <a:t>将对话、推理、推荐统一到单一模型，同时服务精度、可解释性与工程落地。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B62741-F682-41FC-A5FA-D19E99FD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66900"/>
            <a:ext cx="3371850" cy="3657600"/>
          </a:xfrm>
          <a:prstGeom xmlns:a="http://schemas.openxmlformats.org/drawingml/2006/main" prst="roundRect">
            <a:avLst>
              <a:gd name="adj" fmla="val 226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7df439bf50445c"/>
          <a:stretch xmlns:a="http://schemas.openxmlformats.org/drawingml/2006/main"/>
        </p:blipFill>
        <p:spPr>
          <a:xfrm xmlns:a="http://schemas.openxmlformats.org/drawingml/2006/main">
            <a:off x="7543800" y="2038350"/>
            <a:ext cx="3762375" cy="2619375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5A76D7-D52D-41EA-B62D-46FD380C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33950"/>
            <a:ext cx="3762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OneRec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参照：显式推理、时延优化、评估闭环</a:t>
            </a:r>
          </a:p>
        </p:txBody>
      </p:sp>
    </p:spTree>
    <p:extLst>
      <p:ext uri="{BB962C8B-B14F-4D97-AF65-F5344CB8AC3E}">
        <p14:creationId xmlns:p14="http://schemas.microsoft.com/office/powerpoint/2010/main" val="14544150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377f10b5094c84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28AF-E21B-495C-8991-4D58222E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28533-77AD-4173-BFC6-C45B95E2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52BA0-F6E3-4598-8FA5-2BE1D35C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5993-4C0C-4455-BC66-A67739D4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D86EE-C7DE-4543-A6F8-DB203A9D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D07C3-CF29-4CD2-BA31-067B3680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教育 OneRec 基座模型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D6547-3070-490C-A7CC-26B930ED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9E413-7317-454D-83F7-B54A266D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99F78-F524-4489-A206-9E6E503A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90650"/>
            <a:ext cx="838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总体目标：产出教育领域的基座推荐模型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C32CD-A2FF-455F-8CC6-41D94718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rPr>
              <a:t>以通用 LLM 为底座，在不损失通用对话与推理能力的前提下，注入教育 Item 语义理解与生成式推荐能力；</a:t>
            </a:r>
          </a:p>
          <a:p xmlns:a="http://schemas.openxmlformats.org/drawingml/2006/main">
            <a:pPr>
              <a:buNone/>
              <a:def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64157"/>
                </a:solidFill>
                <a:latin typeface="PingFang SC"/>
                <a:ea typeface="PingFang SC"/>
                <a:cs typeface="PingFang SC"/>
              </a:rPr>
              <a:t>形成“一个模型、多种场景”的统一能力底座，通过指令适配推荐、搜索、题目理解辅助等下游业务。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D75F6-A36B-44BB-A34E-2F66A61D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CEFDCB-EAAE-494F-8900-D889796C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114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460A9-130B-4322-9F01-F44CC366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52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58B5A9-0E6F-4529-AA6D-10703492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1951-CA12-473C-9DA8-8921BF88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147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模型侧｜能力注入与遗忘控制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0886F-EB54-4B44-A807-ED29D95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385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能力注入不能牺牲通用能力；同时要抑制 text &lt;-&gt; SID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对齐在 CPT -&gt; SFT -&gt; 增量训练中的遗忘。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D7A20-F50C-4701-AECB-2741F440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051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50BBA-6A50-4FC7-9A52-1816C005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114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BCCEC-732E-4F1B-A31D-154B071C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528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0F454-E329-43C3-A074-314411E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4480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CD64D-74A3-49A8-A085-B62BE24D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147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应用侧｜多任务互扰与部署隔离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6C9F1A-A1F2-4993-9863-31D98608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单一模型承载异构任务时，要降低训练负迁移，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推理防串扰，上线配套回归、路由与兜底。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D2BFB-8CFF-497F-A056-CA8BBCAC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529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86217-B6EB-4D4A-856E-BA406097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5624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3A6C-1FA4-43A3-957E-7D7815DF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7F959-94F4-4F6B-B2BE-3DA0C804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95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4F0E5-E2F1-46C7-A55D-90807708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762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业务侧｜无反馈条件下的监督与度量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CBDAF7-8AE8-4E2A-89D8-5C4FCD6B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863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冷启动缺少真实行为反馈，需要构建可靠监督信号，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并用代理评估论证与业务价值的一致性。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E0EC5-C037-4FD3-BE4D-AC3F4F01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552950"/>
            <a:ext cx="4762500" cy="114300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2D8892-A95A-4189-86A3-93BA7833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624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0E2E8-B7BB-4AA3-9D49-F6BE2B18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00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127546-35A6-42A3-AF50-03B39D6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95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E2777A-5E3B-42AE-BD34-2F74AC7A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62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工程侧｜推理成本与增量更新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06E7B-9755-47BA-AF44-A30BF2EA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08635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显式 CoT 成本高，需在 SLA 下重设计推理架构，</a:t>
            </a:r>
          </a:p>
          <a:p xmlns:a="http://schemas.openxmlformats.org/drawingml/2006/main">
            <a:pPr>
              <a:buNone/>
              <a:def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4A5368"/>
                </a:solidFill>
                <a:latin typeface="PingFang SC"/>
                <a:ea typeface="PingFang SC"/>
                <a:cs typeface="PingFang SC"/>
              </a:rPr>
              <a:t>并打通 SID、约束解码、候选池的增量更新。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F72C2-2F36-4F7F-848B-CCB1B5AA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3880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615CA6-4CBD-4CEE-BCDD-8EDA8906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5192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5192F"/>
                </a:solidFill>
                <a:latin typeface="PingFang SC"/>
                <a:ea typeface="PingFang SC"/>
                <a:cs typeface="PingFang SC"/>
              </a:rPr>
              <a:t>问题与挑战</a:t>
            </a:r>
          </a:p>
        </p:txBody>
      </p:sp>
    </p:spTree>
    <p:extLst>
      <p:ext uri="{BB962C8B-B14F-4D97-AF65-F5344CB8AC3E}">
        <p14:creationId xmlns:p14="http://schemas.microsoft.com/office/powerpoint/2010/main" val="1398988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2026-07-07T12:42:40.0710000Z</dcterms:created>
  <dcterms:modified xsi:type="dcterms:W3CDTF">2026-07-07T12:42:40.0710000Z</dcterms:modified>
</coreProperties>
</file>