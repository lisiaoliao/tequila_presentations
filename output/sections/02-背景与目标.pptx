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e785cbd1484d3a" /><Relationship Type="http://schemas.openxmlformats.org/officeDocument/2006/relationships/extended-properties" Target="/docProps/app.xml" Id="R316f7e9062ef47f6" /><Relationship Type="http://schemas.openxmlformats.org/officeDocument/2006/relationships/officeDocument" Target="/ppt/presentation.xml" Id="R99c12de24a4e42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e956aeb4704d02"/>
  </p:sldMasterIdLst>
  <p:notesMasterIdLst>
    <p:notesMasterId xmlns:r="http://schemas.openxmlformats.org/officeDocument/2006/relationships" r:id="Rfe4893e2ef994fe2"/>
  </p:notesMasterIdLst>
  <p:sldIdLst>
    <p:sldId xmlns:r="http://schemas.openxmlformats.org/officeDocument/2006/relationships" id="256" r:id="R01cb9b1e84f143f9"/>
    <p:sldId xmlns:r="http://schemas.openxmlformats.org/officeDocument/2006/relationships" id="257" r:id="R69da80eddabd485d"/>
    <p:sldId xmlns:r="http://schemas.openxmlformats.org/officeDocument/2006/relationships" id="258" r:id="R462dd78bbb7645e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5949700c62472e" /><Relationship Type="http://schemas.openxmlformats.org/officeDocument/2006/relationships/slideMaster" Target="/ppt/slideMasters/slideMaster1.xml" Id="Re2e956aeb4704d02" /><Relationship Type="http://schemas.openxmlformats.org/officeDocument/2006/relationships/notesMaster" Target="/ppt/notesMasters/notesMaster1.xml" Id="Rfe4893e2ef994fe2" /><Relationship Type="http://schemas.openxmlformats.org/officeDocument/2006/relationships/presProps" Target="/ppt/presProps.xml" Id="R90e500c452754546" /><Relationship Type="http://schemas.openxmlformats.org/officeDocument/2006/relationships/tableStyles" Target="/ppt/tableStyles.xml" Id="R2e4557a170f042a3" /><Relationship Type="http://schemas.openxmlformats.org/officeDocument/2006/relationships/slide" Target="/ppt/slides/slide1.xml" Id="R01cb9b1e84f143f9" /><Relationship Type="http://schemas.openxmlformats.org/officeDocument/2006/relationships/slide" Target="/ppt/slides/slide2.xml" Id="R69da80eddabd485d" /><Relationship Type="http://schemas.openxmlformats.org/officeDocument/2006/relationships/slide" Target="/ppt/slides/slide3.xml" Id="R462dd78bbb7645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1090a66f42446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2e95f426bfb4637" /><Relationship Type="http://schemas.openxmlformats.org/officeDocument/2006/relationships/notesMaster" Target="/ppt/notesMasters/notesMaster1.xml" Id="Re62ef5697f904e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00bd702fa5c4a0b" /><Relationship Type="http://schemas.openxmlformats.org/officeDocument/2006/relationships/notesMaster" Target="/ppt/notesMasters/notesMaster1.xml" Id="Reab0f00b4ae346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d4d1ac53a3b4021" /><Relationship Type="http://schemas.openxmlformats.org/officeDocument/2006/relationships/notesMaster" Target="/ppt/notesMasters/notesMaster1.xml" Id="R7c7bc0aa7bac4f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b5d55c46794eb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c108a791b046dc" /><Relationship Type="http://schemas.openxmlformats.org/officeDocument/2006/relationships/slideLayout" Target="/ppt/slideLayouts/slideLayout1.xml" Id="R41a8e53068874f5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a8e53068874f5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457cd25b3f4df4" /><Relationship Type="http://schemas.openxmlformats.org/officeDocument/2006/relationships/image" Target="/ppt/media/image.png" Id="Rad67b08968424a35" /><Relationship Type="http://schemas.openxmlformats.org/officeDocument/2006/relationships/image" Target="/ppt/media/image2.png" Id="R34bd55215b4a47f0" /><Relationship Type="http://schemas.openxmlformats.org/officeDocument/2006/relationships/notesSlide" Target="/ppt/notesSlides/notesSlide1.xml" Id="R5d0c7298165f46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c6994f96a04421" /><Relationship Type="http://schemas.openxmlformats.org/officeDocument/2006/relationships/image" Target="/ppt/media/image3.png" Id="Ra1bbc2c74c39420b" /><Relationship Type="http://schemas.openxmlformats.org/officeDocument/2006/relationships/image" Target="/ppt/media/image4.png" Id="R15cac6f6e6ac4d8e" /><Relationship Type="http://schemas.openxmlformats.org/officeDocument/2006/relationships/notesSlide" Target="/ppt/notesSlides/notesSlide2.xml" Id="R31faca9106514c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1ed6310fbc4c2c" /><Relationship Type="http://schemas.openxmlformats.org/officeDocument/2006/relationships/image" Target="/ppt/media/image5.png" Id="Rb21785249e364dec" /><Relationship Type="http://schemas.openxmlformats.org/officeDocument/2006/relationships/notesSlide" Target="/ppt/notesSlides/notesSlide3.xml" Id="Raaf52478673d42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1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67b08968424a3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E76648-E877-4368-9A2A-059A7FE9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113D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3036D-85BC-4D5E-A0B3-F495D4ABE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d55215b4a47f0"/>
          <a:stretch xmlns:a="http://schemas.openxmlformats.org/drawingml/2006/main"/>
        </p:blipFill>
        <p:spPr>
          <a:xfrm xmlns:a="http://schemas.openxmlformats.org/drawingml/2006/main">
            <a:off x="723900" y="744487"/>
            <a:ext cx="323850" cy="320777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F86DF-C681-434F-AE29-F3AF9877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781050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Qwen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904E59-B46C-493A-83B7-C505E2BE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52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D9D7FF"/>
                </a:solidFill>
                <a:latin typeface="PingFang SC"/>
                <a:ea typeface="PingFang SC"/>
                <a:cs typeface="PingFang SC"/>
              </a:defRPr>
            </a:pPr>
            <a:r>
              <a:rPr sz="4350" b="1">
                <a:solidFill>
                  <a:srgbClr val="D9D7FF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250834-EEFE-4D37-BA33-2E119476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051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27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工作概况：教育 OneRec 探索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0CDFA-542A-447C-BCBE-BC10C6F8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DE3FF"/>
                </a:solidFill>
                <a:latin typeface="PingFang SC"/>
                <a:ea typeface="PingFang SC"/>
                <a:cs typeface="PingFang SC"/>
              </a:defRPr>
            </a:pPr>
            <a:r>
              <a:rPr sz="1500" b="0">
                <a:solidFill>
                  <a:srgbClr val="DDE3FF"/>
                </a:solidFill>
                <a:latin typeface="PingFang SC"/>
                <a:ea typeface="PingFang SC"/>
                <a:cs typeface="PingFang SC"/>
              </a:rPr>
              <a:t>优化背景 | 总体目标 | 问题与挑战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04A23-E32C-4460-8718-A18A6CA8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876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4CE2C-36FF-45F6-B41E-00F26D01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19125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F2F4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2F4FF"/>
                </a:solidFill>
                <a:latin typeface="PingFang SC"/>
                <a:ea typeface="PingFang SC"/>
                <a:cs typeface="PingFang SC"/>
              </a:rPr>
              <a:t>转正答辩 · 千问学习创新</a:t>
            </a:r>
          </a:p>
        </p:txBody>
      </p:sp>
    </p:spTree>
    <p:extLst>
      <p:ext uri="{BB962C8B-B14F-4D97-AF65-F5344CB8AC3E}">
        <p14:creationId xmlns:p14="http://schemas.microsoft.com/office/powerpoint/2010/main" val="10372481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bc2c74c39420b"/>
          <a:stretch xmlns:a="http://schemas.openxmlformats.org/drawingml/2006/main"/>
        </p:blipFill>
        <p:spPr>
          <a:xfrm xmlns:a="http://schemas.openxmlformats.org/drawingml/2006/main">
            <a:off x="9925050" y="306337"/>
            <a:ext cx="323850" cy="3207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93AFC1-93F2-4CB0-9C2F-D736487A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1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13D"/>
                </a:solidFill>
                <a:latin typeface="PingFang SC"/>
                <a:ea typeface="PingFang SC"/>
                <a:cs typeface="PingFang SC"/>
              </a:rPr>
              <a:t>Qwen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372FB-EED0-492E-9B19-BF0C58CC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33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千问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0AA59-0FCE-4475-B99E-9F656CC0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35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B84BD-A340-4608-A385-D6682206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D8B6D-F3F5-43D0-B0F3-28639E40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ECC9C-7959-431F-A63E-33160D618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"/>
            <a:ext cx="603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背景与目标 | 为什么需要 OneRec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DC13F-AC36-4562-8142-0899A2BA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86E9E8-078D-48DB-A417-488FDCB7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9470E1-526D-4464-913C-59F6DC3C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47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B68F2-2187-4AFA-A0DC-6FBBB559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381125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优化背景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54E131-05F0-408E-A547-DC9D7A96F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教育推荐/搜索需求占比持续上升，现有路线难以兼顾时效性与可解释性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489D9D-C660-4FBA-BFE5-B91138CC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657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344054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344054"/>
                </a:solidFill>
                <a:latin typeface="PingFang SC"/>
                <a:ea typeface="PingFang SC"/>
                <a:cs typeface="PingFang SC"/>
              </a:rPr>
              <a:t>核心矛盾：Agent 解释强但慢，判别式推荐快但黑盒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ACA8F7-AE37-4382-A609-261A5F23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3105150" cy="13525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5FF"/>
          </a:solidFill>
          <a:ln xmlns:a="http://schemas.openxmlformats.org/drawingml/2006/main" w="12383">
            <a:solidFill>
              <a:srgbClr val="C8C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96978E-7767-423A-B217-A580CA8B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28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路线一：Agent 编排检索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73CCFB-CB87-4CF7-8E67-544C93BD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528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4405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44054"/>
                </a:solidFill>
                <a:latin typeface="PingFang SC"/>
                <a:ea typeface="PingFang SC"/>
                <a:cs typeface="PingFang SC"/>
              </a:rPr>
              <a:t>• 中间决策显式，可解释性强</a:t>
            </a:r>
          </a:p>
          <a:p xmlns:a="http://schemas.openxmlformats.org/drawingml/2006/main">
            <a:pPr>
              <a:buNone/>
              <a:defRPr sz="1050" b="0">
                <a:solidFill>
                  <a:srgbClr val="34405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44054"/>
                </a:solidFill>
                <a:latin typeface="PingFang SC"/>
                <a:ea typeface="PingFang SC"/>
                <a:cs typeface="PingFang SC"/>
              </a:rPr>
              <a:t>• 多轮模型调用与串行工具链</a:t>
            </a:r>
          </a:p>
          <a:p xmlns:a="http://schemas.openxmlformats.org/drawingml/2006/main">
            <a:pPr>
              <a:buNone/>
              <a:defRPr sz="1050" b="0">
                <a:solidFill>
                  <a:srgbClr val="34405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44054"/>
                </a:solidFill>
                <a:latin typeface="PingFang SC"/>
                <a:ea typeface="PingFang SC"/>
                <a:cs typeface="PingFang SC"/>
              </a:rPr>
              <a:t>• 秒级/十秒级时延，成本随复杂度增长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F6AD19-9C34-453C-A099-CE3C4572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0350"/>
            <a:ext cx="3105150" cy="135255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7F5FF"/>
          </a:solidFill>
          <a:ln xmlns:a="http://schemas.openxmlformats.org/drawingml/2006/main" w="12383">
            <a:solidFill>
              <a:srgbClr val="C8C1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381DB-1673-4E37-A2B7-6B8EF053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2895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1425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路线二：判别式推荐系统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72305E-4427-463B-AF73-8EA38A29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52800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34405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44054"/>
                </a:solidFill>
                <a:latin typeface="PingFang SC"/>
                <a:ea typeface="PingFang SC"/>
                <a:cs typeface="PingFang SC"/>
              </a:rPr>
              <a:t>• 毫秒级响应，适合高频交互</a:t>
            </a:r>
          </a:p>
          <a:p xmlns:a="http://schemas.openxmlformats.org/drawingml/2006/main">
            <a:pPr>
              <a:buNone/>
              <a:defRPr sz="1050" b="0">
                <a:solidFill>
                  <a:srgbClr val="34405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44054"/>
                </a:solidFill>
                <a:latin typeface="PingFang SC"/>
                <a:ea typeface="PingFang SC"/>
                <a:cs typeface="PingFang SC"/>
              </a:rPr>
              <a:t>• 偏好隐含在参数与 embedding 中</a:t>
            </a:r>
          </a:p>
          <a:p xmlns:a="http://schemas.openxmlformats.org/drawingml/2006/main">
            <a:pPr>
              <a:buNone/>
              <a:defRPr sz="1050" b="0">
                <a:solidFill>
                  <a:srgbClr val="344054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344054"/>
                </a:solidFill>
                <a:latin typeface="PingFang SC"/>
                <a:ea typeface="PingFang SC"/>
                <a:cs typeface="PingFang SC"/>
              </a:rPr>
              <a:t>• 难输出可审查的推荐依据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D31FD9-A2DA-4436-8526-F7A3B937D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133850"/>
            <a:ext cx="70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3300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↓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B08E5-93DD-4009-9039-A03DAEE18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6343650" cy="12001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14288">
            <a:solidFill>
              <a:srgbClr val="635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71D9F1-E7FF-416E-85FF-799D13DF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914900"/>
            <a:ext cx="561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332A86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332A86"/>
                </a:solidFill>
                <a:latin typeface="PingFang SC"/>
                <a:ea typeface="PingFang SC"/>
                <a:cs typeface="PingFang SC"/>
              </a:rPr>
              <a:t>第三条路线：OneRec 生成式推荐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ECFFFF-E66C-4663-A140-378610EE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257800"/>
            <a:ext cx="5562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125" b="0">
                <a:solidFill>
                  <a:srgbClr val="2F355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F3556"/>
                </a:solidFill>
                <a:latin typeface="PingFang SC"/>
                <a:ea typeface="PingFang SC"/>
                <a:cs typeface="PingFang SC"/>
              </a:rPr>
              <a:t>在在线时延约束下保留推荐解释：借鉴 OneRec-Think / OneReason 的显式推理与快慢思考架构，</a:t>
            </a:r>
          </a:p>
          <a:p xmlns:a="http://schemas.openxmlformats.org/drawingml/2006/main">
            <a:pPr>
              <a:buNone/>
              <a:defRPr sz="1125" b="0">
                <a:solidFill>
                  <a:srgbClr val="2F3556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2F3556"/>
                </a:solidFill>
                <a:latin typeface="PingFang SC"/>
                <a:ea typeface="PingFang SC"/>
                <a:cs typeface="PingFang SC"/>
              </a:rPr>
              <a:t>将对话、推理、推荐统一到单一模型，同时服务精度、可解释性与工程落地。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B62741-F682-41FC-A5FA-D19E99FD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66900"/>
            <a:ext cx="3371850" cy="3657600"/>
          </a:xfrm>
          <a:prstGeom xmlns:a="http://schemas.openxmlformats.org/drawingml/2006/main" prst="roundRect">
            <a:avLst>
              <a:gd name="adj" fmla="val 226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ac6f6e6ac4d8e"/>
          <a:stretch xmlns:a="http://schemas.openxmlformats.org/drawingml/2006/main"/>
        </p:blipFill>
        <p:spPr>
          <a:xfrm xmlns:a="http://schemas.openxmlformats.org/drawingml/2006/main">
            <a:off x="7543800" y="2038350"/>
            <a:ext cx="3762375" cy="2619375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5A76D7-D52D-41EA-B62D-46FD380C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933950"/>
            <a:ext cx="3762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411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13D"/>
                </a:solidFill>
                <a:latin typeface="PingFang SC"/>
                <a:ea typeface="PingFang SC"/>
                <a:cs typeface="PingFang SC"/>
              </a:rPr>
              <a:t>OneRec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4113D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4113D"/>
                </a:solidFill>
                <a:latin typeface="PingFang SC"/>
                <a:ea typeface="PingFang SC"/>
                <a:cs typeface="PingFang SC"/>
              </a:rPr>
              <a:t>参照：显式推理、时延优化、评估闭环</a:t>
            </a:r>
          </a:p>
        </p:txBody>
      </p:sp>
    </p:spTree>
    <p:extLst>
      <p:ext uri="{BB962C8B-B14F-4D97-AF65-F5344CB8AC3E}">
        <p14:creationId xmlns:p14="http://schemas.microsoft.com/office/powerpoint/2010/main" val="1454415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1785249e364dec"/>
          <a:stretch xmlns:a="http://schemas.openxmlformats.org/drawingml/2006/main"/>
        </p:blipFill>
        <p:spPr>
          <a:xfrm xmlns:a="http://schemas.openxmlformats.org/drawingml/2006/main">
            <a:off x="9925050" y="306337"/>
            <a:ext cx="323850" cy="32077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EF28AF-E21B-495C-8991-4D58222E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33375"/>
            <a:ext cx="685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4113D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4113D"/>
                </a:solidFill>
                <a:latin typeface="PingFang SC"/>
                <a:ea typeface="PingFang SC"/>
                <a:cs typeface="PingFang SC"/>
              </a:rPr>
              <a:t>Qwen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D28533-77AD-4173-BFC6-C45B95E2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33400"/>
            <a:ext cx="685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825" b="0">
                <a:solidFill>
                  <a:srgbClr val="667085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667085"/>
                </a:solidFill>
                <a:latin typeface="PingFang SC"/>
                <a:ea typeface="PingFang SC"/>
                <a:cs typeface="PingFang SC"/>
              </a:rPr>
              <a:t>千问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452BA0-F6E3-4598-8FA5-2BE1D35C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4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635B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6E5993-4C0C-4455-BC66-A67739D4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9575"/>
            <a:ext cx="60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635BFF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635B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BD86EE-C7DE-4543-A6F8-DB203A9D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3D07C3-CF29-4CD2-BA31-067B3680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6725"/>
            <a:ext cx="603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背景与目标 | 教育 OneRec 基座模型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1D6547-3070-490C-A7CC-26B930ED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11049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69E413-7317-454D-83F7-B54A266D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15100"/>
            <a:ext cx="4000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98A2B3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499F78-F524-4489-A206-9E6E503A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总体目标：产出教育领域的基座推荐模型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C32CD-A2FF-455F-8CC6-41D94718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36415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157"/>
                </a:solidFill>
                <a:latin typeface="PingFang SC"/>
                <a:ea typeface="PingFang SC"/>
                <a:cs typeface="PingFang SC"/>
              </a:rPr>
              <a:t>以通用 LLM 为底座，在不损失通用对话与推理能力的前提下，注入教育 Item 语义理解与生成式推荐能力；</a:t>
            </a:r>
          </a:p>
          <a:p xmlns:a="http://schemas.openxmlformats.org/drawingml/2006/main">
            <a:pPr>
              <a:buNone/>
              <a:defRPr sz="1275" b="0">
                <a:solidFill>
                  <a:srgbClr val="364157"/>
                </a:solidFill>
                <a:latin typeface="PingFang SC"/>
                <a:ea typeface="PingFang SC"/>
                <a:cs typeface="PingFang SC"/>
              </a:defRPr>
            </a:pPr>
            <a:r>
              <a:rPr sz="1275" b="0">
                <a:solidFill>
                  <a:srgbClr val="364157"/>
                </a:solidFill>
                <a:latin typeface="PingFang SC"/>
                <a:ea typeface="PingFang SC"/>
                <a:cs typeface="PingFang SC"/>
              </a:rPr>
              <a:t>形成“一个模型、多种场景”的统一能力底座，通过指令适配推荐、搜索、题目理解辅助等下游业务。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D75F6-A36B-44BB-A34E-2F66A61D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05150"/>
            <a:ext cx="4762500" cy="11430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C7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CEFDCB-EAAE-494F-8900-D889796C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114675"/>
            <a:ext cx="474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460A9-130B-4322-9F01-F44CC366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58B5A9-0E6F-4529-AA6D-10703492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48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C1951-CA12-473C-9DA8-8921BF88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314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模型侧｜能力注入与遗忘控制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0886F-EB54-4B44-A807-ED29D954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6385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rPr>
              <a:t>能力注入不能牺牲通用能力；同时要抑制 text &lt;-&gt; SID</a:t>
            </a:r>
          </a:p>
          <a:p xmlns:a="http://schemas.openxmlformats.org/drawingml/2006/main">
            <a:pPr>
              <a:buNone/>
              <a:def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rPr>
              <a:t>对齐在 CPT -&gt; SFT -&gt; 增量训练中的遗忘。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4D7A20-F50C-4701-AECB-2741F440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05150"/>
            <a:ext cx="4762500" cy="11430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10478">
            <a:solidFill>
              <a:srgbClr val="C7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50BBA-6A50-4FC7-9A52-1816C005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14675"/>
            <a:ext cx="474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DBCCEC-732E-4F1B-A31D-154B071C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52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F0F454-E329-43C3-A074-314411E9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480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CD64D-74A3-49A8-A085-B62BE24D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3147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应用侧｜多任务互扰与部署隔离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6C9F1A-A1F2-4993-9863-31D986081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385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rPr>
              <a:t>单一模型承载异构任务时，要降低训练负迁移，</a:t>
            </a:r>
          </a:p>
          <a:p xmlns:a="http://schemas.openxmlformats.org/drawingml/2006/main">
            <a:pPr>
              <a:buNone/>
              <a:def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rPr>
              <a:t>推理防串扰，上线配套回归、路由与兜底。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9D2BFB-8CFF-497F-A056-CA8BBCAC1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52950"/>
            <a:ext cx="4762500" cy="11430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0478">
            <a:solidFill>
              <a:srgbClr val="C7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186217-B6EB-4D4A-856E-BA406097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562475"/>
            <a:ext cx="474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143A6C-1FA4-43A3-957E-7D7815DF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00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47F959-94F4-4F6B-B2BE-3DA0C8049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95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14F0E5-E2F1-46C7-A55D-90807708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625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业务侧｜无反馈条件下的监督与度量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BDAF7-8AE8-4E2A-89D8-5C4FCD6B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rPr>
              <a:t>冷启动缺少真实行为反馈，需要构建可靠监督信号，</a:t>
            </a:r>
          </a:p>
          <a:p xmlns:a="http://schemas.openxmlformats.org/drawingml/2006/main">
            <a:pPr>
              <a:buNone/>
              <a:def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rPr>
              <a:t>并用代理评估论证与业务价值的一致性。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0E0EC5-C037-4FD3-BE4D-AC3F4F01E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52950"/>
            <a:ext cx="4762500" cy="114300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F4F1FF"/>
          </a:solidFill>
          <a:ln xmlns:a="http://schemas.openxmlformats.org/drawingml/2006/main" w="10478">
            <a:solidFill>
              <a:srgbClr val="C7E7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2D8892-A95A-4189-86A3-93BA7833C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62475"/>
            <a:ext cx="474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70E2E8-B7BB-4AA3-9D49-F6BE2B18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006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5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127546-35A6-42A3-AF50-03B39D6E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95850"/>
            <a:ext cx="419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E2777A-5E3B-42AE-BD34-2F74AC7A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625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11827"/>
                </a:solidFill>
                <a:latin typeface="PingFang SC"/>
                <a:ea typeface="PingFang SC"/>
                <a:cs typeface="PingFang SC"/>
              </a:rPr>
              <a:t>工程侧｜推理成本与增量更新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306E7B-9755-47BA-AF44-A30BF2EA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86350"/>
            <a:ext cx="3524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rPr>
              <a:t>显式 CoT 成本高，需在 SLA 下重设计推理架构，</a:t>
            </a:r>
          </a:p>
          <a:p xmlns:a="http://schemas.openxmlformats.org/drawingml/2006/main">
            <a:pPr>
              <a:buNone/>
              <a:def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4A5368"/>
                </a:solidFill>
                <a:latin typeface="PingFang SC"/>
                <a:ea typeface="PingFang SC"/>
                <a:cs typeface="PingFang SC"/>
              </a:rPr>
              <a:t>并打通 SID、约束解码、候选池的增量更新。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DF72C2-2F36-4F7F-848B-CCB1B5AA0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6388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4113D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4113D"/>
                </a:solidFill>
                <a:latin typeface="PingFang SC"/>
                <a:ea typeface="PingFang SC"/>
                <a:cs typeface="PingFang SC"/>
              </a:rPr>
              <a:t/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DF24398-C953-430F-929B-20376F1AE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5192F"/>
                </a:solidFill>
                <a:latin typeface="PingFang SC"/>
                <a:ea typeface="PingFang SC"/>
                <a:cs typeface="PingFang SC"/>
              </a:defRPr>
            </a:pPr>
            <a:r>
              <a:rPr sz="1650" b="1">
                <a:solidFill>
                  <a:srgbClr val="15192F"/>
                </a:solidFill>
                <a:latin typeface="PingFang SC"/>
                <a:ea typeface="PingFang SC"/>
                <a:cs typeface="PingFang SC"/>
              </a:rPr>
              <a:t>问题与挑战</a:t>
            </a:r>
          </a:p>
        </p:txBody>
      </p:sp>
    </p:spTree>
    <p:extLst>
      <p:ext uri="{BB962C8B-B14F-4D97-AF65-F5344CB8AC3E}">
        <p14:creationId xmlns:p14="http://schemas.microsoft.com/office/powerpoint/2010/main" val="13989880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2026-07-07T16:01:47.0900000Z</dcterms:created>
  <dcterms:modified xsi:type="dcterms:W3CDTF">2026-07-07T16:01:47.0900000Z</dcterms:modified>
</coreProperties>
</file>